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AI Dev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B90A0"/>
                </a:solidFill>
              </a:defRPr>
            </a:pPr>
            <a:r>
              <a:t>Multi-Agent Software Development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90A0"/>
                </a:solidFill>
              </a:defRPr>
            </a:pPr>
            <a:r>
              <a:t>Vitalii Perminov  |  MAIS Final Project  |  May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212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B90A0"/>
                </a:solidFill>
              </a:defRPr>
            </a:pPr>
            <a:r>
              <a:t>BA → Developer → QA → GitHub PR — fully autonomous pipeline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F8FF7"/>
                </a:solidFill>
              </a:defRPr>
            </a:pPr>
            <a:r>
              <a:t>Problem &amp; Goal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1E4ED"/>
                </a:solidFill>
              </a:defRPr>
            </a:pPr>
          </a:p>
          <a:p>
            <a:pPr>
              <a:spcBef>
                <a:spcPts val="800"/>
              </a:spcBef>
              <a:defRPr sz="1600" b="0">
                <a:solidFill>
                  <a:srgbClr val="E1E4ED"/>
                </a:solidFill>
              </a:defRPr>
            </a:pPr>
            <a:r>
              <a:t>Problem: Writing code from a user story requires multiple skills —</a:t>
            </a:r>
          </a:p>
          <a:p>
            <a:pPr>
              <a:spcBef>
                <a:spcPts val="800"/>
              </a:spcBef>
              <a:defRPr sz="1600" b="0">
                <a:solidFill>
                  <a:srgbClr val="E1E4ED"/>
                </a:solidFill>
              </a:defRPr>
            </a:pPr>
            <a:r>
              <a:t>requirements analysis, implementation, testing, code review.</a:t>
            </a:r>
          </a:p>
          <a:p>
            <a:pPr>
              <a:spcBef>
                <a:spcPts val="800"/>
              </a:spcBef>
              <a:defRPr sz="1600" b="0">
                <a:solidFill>
                  <a:srgbClr val="E1E4ED"/>
                </a:solidFill>
              </a:defRPr>
            </a:pPr>
          </a:p>
          <a:p>
            <a:pPr>
              <a:spcBef>
                <a:spcPts val="800"/>
              </a:spcBef>
              <a:defRPr sz="1600" b="0">
                <a:solidFill>
                  <a:srgbClr val="FFFFFF"/>
                </a:solidFill>
              </a:defRPr>
            </a:pPr>
            <a:r>
              <a:t>Goal: Automate this with a team of AI agents:</a:t>
            </a:r>
          </a:p>
          <a:p>
            <a:pPr>
              <a:spcBef>
                <a:spcPts val="800"/>
              </a:spcBef>
              <a:defRPr sz="1600" b="0">
                <a:solidFill>
                  <a:srgbClr val="34D399"/>
                </a:solidFill>
              </a:defRPr>
            </a:pPr>
            <a:r>
              <a:t>   Business Analyst → analyzes requirements, produces specification</a:t>
            </a:r>
          </a:p>
          <a:p>
            <a:pPr>
              <a:spcBef>
                <a:spcPts val="800"/>
              </a:spcBef>
              <a:defRPr sz="1600" b="0">
                <a:solidFill>
                  <a:srgbClr val="34D399"/>
                </a:solidFill>
              </a:defRPr>
            </a:pPr>
            <a:r>
              <a:t>   Developer → writes code, creates files, runs tests</a:t>
            </a:r>
          </a:p>
          <a:p>
            <a:pPr>
              <a:spcBef>
                <a:spcPts val="800"/>
              </a:spcBef>
              <a:defRPr sz="1600" b="0">
                <a:solidFill>
                  <a:srgbClr val="34D399"/>
                </a:solidFill>
              </a:defRPr>
            </a:pPr>
            <a:r>
              <a:t>   QA Engineer → reviews code, verifies quality, approves or rejects</a:t>
            </a:r>
          </a:p>
          <a:p>
            <a:pPr>
              <a:spcBef>
                <a:spcPts val="800"/>
              </a:spcBef>
              <a:defRPr sz="1600" b="0">
                <a:solidFill>
                  <a:srgbClr val="E1E4ED"/>
                </a:solidFill>
              </a:defRPr>
            </a:pPr>
          </a:p>
          <a:p>
            <a:pPr>
              <a:spcBef>
                <a:spcPts val="800"/>
              </a:spcBef>
              <a:defRPr sz="1600" b="0">
                <a:solidFill>
                  <a:srgbClr val="4F8FF7"/>
                </a:solidFill>
              </a:defRPr>
            </a:pPr>
            <a:r>
              <a:t>Pattern: Evaluator-Optimizer (Dev ↔ QA loop) + Prompt Chaining + HITL</a:t>
            </a:r>
          </a:p>
          <a:p>
            <a:pPr>
              <a:spcBef>
                <a:spcPts val="800"/>
              </a:spcBef>
              <a:defRPr sz="1600" b="0">
                <a:solidFill>
                  <a:srgbClr val="8B90A0"/>
                </a:solidFill>
              </a:defRPr>
            </a:pPr>
            <a:r>
              <a:t>Interaction type: Cooperative — all agents share a common goal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F8FF7"/>
                </a:solidFill>
              </a:defRPr>
            </a:pPr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1E4ED"/>
                </a:solidFill>
              </a:defRPr>
            </a:pPr>
          </a:p>
          <a:p>
            <a:pPr>
              <a:spcBef>
                <a:spcPts val="800"/>
              </a:spcBef>
              <a:defRPr sz="1600" b="0">
                <a:solidFill>
                  <a:srgbClr val="FFFFFF"/>
                </a:solidFill>
              </a:defRPr>
            </a:pPr>
            <a:r>
              <a:t>User Story → BA Agent → [HITL Gate: user approves spec] → Developer → QA Engineer → GitHub PR</a:t>
            </a:r>
          </a:p>
          <a:p>
            <a:pPr>
              <a:spcBef>
                <a:spcPts val="800"/>
              </a:spcBef>
              <a:defRPr sz="1600" b="0">
                <a:solidFill>
                  <a:srgbClr val="E1E4ED"/>
                </a:solidFill>
              </a:defRPr>
            </a:pPr>
          </a:p>
          <a:p>
            <a:pPr>
              <a:spcBef>
                <a:spcPts val="800"/>
              </a:spcBef>
              <a:defRPr sz="1600" b="0">
                <a:solidFill>
                  <a:srgbClr val="E1E4ED"/>
                </a:solidFill>
              </a:defRPr>
            </a:pPr>
            <a:r>
              <a:t>Linear part: User → BA → HITL → Developer (Prompt Chaining)</a:t>
            </a:r>
          </a:p>
          <a:p>
            <a:pPr>
              <a:spcBef>
                <a:spcPts val="800"/>
              </a:spcBef>
              <a:defRPr sz="1600" b="0">
                <a:solidFill>
                  <a:srgbClr val="E1E4ED"/>
                </a:solidFill>
              </a:defRPr>
            </a:pPr>
            <a:r>
              <a:t>Cyclic part: Developer ↔ QA (Evaluator-Optimizer, max 5 iterations)</a:t>
            </a:r>
          </a:p>
          <a:p>
            <a:pPr>
              <a:spcBef>
                <a:spcPts val="800"/>
              </a:spcBef>
              <a:defRPr sz="1600" b="0">
                <a:solidFill>
                  <a:srgbClr val="E1E4ED"/>
                </a:solidFill>
              </a:defRPr>
            </a:pPr>
            <a:r>
              <a:t>Post-processing: QA approved → GitHub node → create branch + PR → END</a:t>
            </a:r>
          </a:p>
          <a:p>
            <a:pPr>
              <a:spcBef>
                <a:spcPts val="800"/>
              </a:spcBef>
              <a:defRPr sz="1600" b="0">
                <a:solidFill>
                  <a:srgbClr val="E1E4ED"/>
                </a:solidFill>
              </a:defRPr>
            </a:pPr>
          </a:p>
          <a:p>
            <a:pPr>
              <a:spcBef>
                <a:spcPts val="800"/>
              </a:spcBef>
              <a:defRPr sz="1600" b="0">
                <a:solidFill>
                  <a:srgbClr val="4F8FF7"/>
                </a:solidFill>
              </a:defRPr>
            </a:pPr>
            <a:r>
              <a:t>LangGraph StateGraph with conditional edges</a:t>
            </a:r>
          </a:p>
          <a:p>
            <a:pPr>
              <a:spcBef>
                <a:spcPts val="800"/>
              </a:spcBef>
              <a:defRPr sz="1600" b="0">
                <a:solidFill>
                  <a:srgbClr val="4F8FF7"/>
                </a:solidFill>
              </a:defRPr>
            </a:pPr>
            <a:r>
              <a:t>interrupt() for Human-in-the-Loop spec approval</a:t>
            </a:r>
          </a:p>
          <a:p>
            <a:pPr>
              <a:spcBef>
                <a:spcPts val="800"/>
              </a:spcBef>
              <a:defRPr sz="1600" b="0">
                <a:solidFill>
                  <a:srgbClr val="4F8FF7"/>
                </a:solidFill>
              </a:defRPr>
            </a:pPr>
            <a:r>
              <a:t>InMemorySaver checkpointer for state persistence</a:t>
            </a:r>
          </a:p>
          <a:p>
            <a:pPr>
              <a:spcBef>
                <a:spcPts val="800"/>
              </a:spcBef>
              <a:defRPr sz="1600" b="0">
                <a:solidFill>
                  <a:srgbClr val="4F8FF7"/>
                </a:solidFill>
              </a:defRPr>
            </a:pPr>
            <a:r>
              <a:t>Command(resume={...}) to continue after HITL approval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0A0"/>
                </a:solidFill>
              </a:defRPr>
            </a:pPr>
            <a:r>
              <a:t>See README.md for the full mermaid diagram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F8FF7"/>
                </a:solidFill>
              </a:defRPr>
            </a:pPr>
            <a:r>
              <a:t>Agents &amp; Models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22960" y="1188720"/>
          <a:ext cx="105156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  <a:gridCol w="2103120"/>
              </a:tblGrid>
              <a:tr h="4114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Agent</a:t>
                      </a:r>
                    </a:p>
                  </a:txBody>
                  <a:tcPr>
                    <a:solidFill>
                      <a:srgbClr val="2E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2E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TPM Limit</a:t>
                      </a:r>
                    </a:p>
                  </a:txBody>
                  <a:tcPr>
                    <a:solidFill>
                      <a:srgbClr val="2E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Role</a:t>
                      </a:r>
                    </a:p>
                  </a:txBody>
                  <a:tcPr>
                    <a:solidFill>
                      <a:srgbClr val="2E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Why This Model</a:t>
                      </a:r>
                    </a:p>
                  </a:txBody>
                  <a:tcPr>
                    <a:solidFill>
                      <a:srgbClr val="2E334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1E4ED"/>
                          </a:solidFill>
                        </a:defRPr>
                      </a:pPr>
                      <a:r>
                        <a:t>BA</a:t>
                      </a:r>
                    </a:p>
                  </a:txBody>
                  <a:tcPr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1E4ED"/>
                          </a:solidFill>
                        </a:defRPr>
                      </a:pPr>
                      <a:r>
                        <a:t>gpt-4.1-mini</a:t>
                      </a:r>
                    </a:p>
                  </a:txBody>
                  <a:tcPr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1E4ED"/>
                          </a:solidFill>
                        </a:defRPr>
                      </a:pPr>
                      <a:r>
                        <a:t>200k</a:t>
                      </a:r>
                    </a:p>
                  </a:txBody>
                  <a:tcPr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1E4ED"/>
                          </a:solidFill>
                        </a:defRPr>
                      </a:pPr>
                      <a:r>
                        <a:t>Spec generation</a:t>
                      </a:r>
                    </a:p>
                  </a:txBody>
                  <a:tcPr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1E4ED"/>
                          </a:solidFill>
                        </a:defRPr>
                      </a:pPr>
                      <a:r>
                        <a:t>Cheap, 1 call is enough</a:t>
                      </a:r>
                    </a:p>
                  </a:txBody>
                  <a:tcPr>
                    <a:solidFill>
                      <a:srgbClr val="1A1D2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1E4ED"/>
                          </a:solidFill>
                        </a:defRPr>
                      </a:pPr>
                      <a:r>
                        <a:t>Developer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1E4ED"/>
                          </a:solidFill>
                        </a:defRPr>
                      </a:pPr>
                      <a:r>
                        <a:t>gpt-5.5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1E4ED"/>
                          </a:solidFill>
                        </a:defRPr>
                      </a:pPr>
                      <a:r>
                        <a:t>500k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1E4ED"/>
                          </a:solidFill>
                        </a:defRPr>
                      </a:pPr>
                      <a:r>
                        <a:t>Code writing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1E4ED"/>
                          </a:solidFill>
                        </a:defRPr>
                      </a:pPr>
                      <a:r>
                        <a:t>Best quality, 3-4 calls, no revisions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1E4ED"/>
                          </a:solidFill>
                        </a:defRPr>
                      </a:pPr>
                      <a:r>
                        <a:t>QA</a:t>
                      </a:r>
                    </a:p>
                  </a:txBody>
                  <a:tcPr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1E4ED"/>
                          </a:solidFill>
                        </a:defRPr>
                      </a:pPr>
                      <a:r>
                        <a:t>gpt-5.4</a:t>
                      </a:r>
                    </a:p>
                  </a:txBody>
                  <a:tcPr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1E4ED"/>
                          </a:solidFill>
                        </a:defRPr>
                      </a:pPr>
                      <a:r>
                        <a:t>500k</a:t>
                      </a:r>
                    </a:p>
                  </a:txBody>
                  <a:tcPr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1E4ED"/>
                          </a:solidFill>
                        </a:defRPr>
                      </a:pPr>
                      <a:r>
                        <a:t>Code review</a:t>
                      </a:r>
                    </a:p>
                  </a:txBody>
                  <a:tcPr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1E4ED"/>
                          </a:solidFill>
                        </a:defRPr>
                      </a:pPr>
                      <a:r>
                        <a:t>Thorough, approves first try at 0.95+</a:t>
                      </a:r>
                    </a:p>
                  </a:txBody>
                  <a:tcPr>
                    <a:solidFill>
                      <a:srgbClr val="1A1D27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5943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0A0"/>
                </a:solidFill>
              </a:defRPr>
            </a:pPr>
            <a:r>
              <a:t>Key insight: cheaper models cost MORE in total due to revision loops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F8FF7"/>
                </a:solidFill>
              </a:defRPr>
            </a:pPr>
            <a:r>
              <a:t>Tools (8 total)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22960" y="1188720"/>
          <a:ext cx="10515600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4114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Tool</a:t>
                      </a:r>
                    </a:p>
                  </a:txBody>
                  <a:tcPr>
                    <a:solidFill>
                      <a:srgbClr val="2E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Agent</a:t>
                      </a:r>
                    </a:p>
                  </a:txBody>
                  <a:tcPr>
                    <a:solidFill>
                      <a:srgbClr val="2E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2E334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1E4ED"/>
                          </a:solidFill>
                        </a:defRPr>
                      </a:pPr>
                      <a:r>
                        <a:t>knowledge_search</a:t>
                      </a:r>
                    </a:p>
                  </a:txBody>
                  <a:tcPr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1E4ED"/>
                          </a:solidFill>
                        </a:defRPr>
                      </a:pPr>
                      <a:r>
                        <a:t>BA</a:t>
                      </a:r>
                    </a:p>
                  </a:txBody>
                  <a:tcPr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1E4ED"/>
                          </a:solidFill>
                        </a:defRPr>
                      </a:pPr>
                      <a:r>
                        <a:t>RAG — FAISS + BM25 + cross-encoder (23 docs)</a:t>
                      </a:r>
                    </a:p>
                  </a:txBody>
                  <a:tcPr>
                    <a:solidFill>
                      <a:srgbClr val="1A1D2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1E4ED"/>
                          </a:solidFill>
                        </a:defRPr>
                      </a:pPr>
                      <a:r>
                        <a:t>read_notion_page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1E4ED"/>
                          </a:solidFill>
                        </a:defRPr>
                      </a:pPr>
                      <a:r>
                        <a:t>BA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1E4ED"/>
                          </a:solidFill>
                        </a:defRPr>
                      </a:pPr>
                      <a:r>
                        <a:t>Read user stories from Notion pages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1E4ED"/>
                          </a:solidFill>
                        </a:defRPr>
                      </a:pPr>
                      <a:r>
                        <a:t>web_search</a:t>
                      </a:r>
                    </a:p>
                  </a:txBody>
                  <a:tcPr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1E4ED"/>
                          </a:solidFill>
                        </a:defRPr>
                      </a:pPr>
                      <a:r>
                        <a:t>Dev</a:t>
                      </a:r>
                    </a:p>
                  </a:txBody>
                  <a:tcPr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1E4ED"/>
                          </a:solidFill>
                        </a:defRPr>
                      </a:pPr>
                      <a:r>
                        <a:t>DuckDuckGo search</a:t>
                      </a:r>
                    </a:p>
                  </a:txBody>
                  <a:tcPr>
                    <a:solidFill>
                      <a:srgbClr val="1A1D2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1E4ED"/>
                          </a:solidFill>
                        </a:defRPr>
                      </a:pPr>
                      <a:r>
                        <a:t>docs_search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1E4ED"/>
                          </a:solidFill>
                        </a:defRPr>
                      </a:pPr>
                      <a:r>
                        <a:t>Dev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1E4ED"/>
                          </a:solidFill>
                        </a:defRPr>
                      </a:pPr>
                      <a:r>
                        <a:t>Context7 MCP — live library documentation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1E4ED"/>
                          </a:solidFill>
                        </a:defRPr>
                      </a:pPr>
                      <a:r>
                        <a:t>python_repl</a:t>
                      </a:r>
                    </a:p>
                  </a:txBody>
                  <a:tcPr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1E4ED"/>
                          </a:solidFill>
                        </a:defRPr>
                      </a:pPr>
                      <a:r>
                        <a:t>Dev, QA</a:t>
                      </a:r>
                    </a:p>
                  </a:txBody>
                  <a:tcPr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1E4ED"/>
                          </a:solidFill>
                        </a:defRPr>
                      </a:pPr>
                      <a:r>
                        <a:t>Sandboxed Python execution (30s timeout)</a:t>
                      </a:r>
                    </a:p>
                  </a:txBody>
                  <a:tcPr>
                    <a:solidFill>
                      <a:srgbClr val="1A1D2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1E4ED"/>
                          </a:solidFill>
                        </a:defRPr>
                      </a:pPr>
                      <a:r>
                        <a:t>run_command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1E4ED"/>
                          </a:solidFill>
                        </a:defRPr>
                      </a:pPr>
                      <a:r>
                        <a:t>Dev, QA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1E4ED"/>
                          </a:solidFill>
                        </a:defRPr>
                      </a:pPr>
                      <a:r>
                        <a:t>Terminal: python, pytest, ls (allowlist)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1E4ED"/>
                          </a:solidFill>
                        </a:defRPr>
                      </a:pPr>
                      <a:r>
                        <a:t>file_write</a:t>
                      </a:r>
                    </a:p>
                  </a:txBody>
                  <a:tcPr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1E4ED"/>
                          </a:solidFill>
                        </a:defRPr>
                      </a:pPr>
                      <a:r>
                        <a:t>Dev</a:t>
                      </a:r>
                    </a:p>
                  </a:txBody>
                  <a:tcPr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1E4ED"/>
                          </a:solidFill>
                        </a:defRPr>
                      </a:pPr>
                      <a:r>
                        <a:t>Create files in workspace/</a:t>
                      </a:r>
                    </a:p>
                  </a:txBody>
                  <a:tcPr>
                    <a:solidFill>
                      <a:srgbClr val="1A1D2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1E4ED"/>
                          </a:solidFill>
                        </a:defRPr>
                      </a:pPr>
                      <a:r>
                        <a:t>file_read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1E4ED"/>
                          </a:solidFill>
                        </a:defRPr>
                      </a:pPr>
                      <a:r>
                        <a:t>Dev, QA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1E4ED"/>
                          </a:solidFill>
                        </a:defRPr>
                      </a:pPr>
                      <a:r>
                        <a:t>Read files from workspace/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5943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0A0"/>
                </a:solidFill>
              </a:defRPr>
            </a:pPr>
            <a:r>
              <a:t>Integrations: Context7 via MCP Protocol, GitHub via PyGithub (Git Trees API), Notion via trafilatura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F8FF7"/>
                </a:solidFill>
              </a:defRPr>
            </a:pPr>
            <a:r>
              <a:t>Demo — Pipeline in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1E4ED"/>
                </a:solidFill>
              </a:defRPr>
            </a:pPr>
          </a:p>
          <a:p>
            <a:pPr>
              <a:spcBef>
                <a:spcPts val="800"/>
              </a:spcBef>
              <a:defRPr sz="1600" b="0">
                <a:solidFill>
                  <a:srgbClr val="FFFFFF"/>
                </a:solidFill>
              </a:defRPr>
            </a:pPr>
            <a:r>
              <a:t>1. User enters a story → "Build a CLI password generator with strength meter"</a:t>
            </a:r>
          </a:p>
          <a:p>
            <a:pPr>
              <a:spcBef>
                <a:spcPts val="800"/>
              </a:spcBef>
              <a:defRPr sz="1600" b="0">
                <a:solidFill>
                  <a:srgbClr val="34D399"/>
                </a:solidFill>
              </a:defRPr>
            </a:pPr>
            <a:r>
              <a:t>2. BA produces spec in 1 call (~800 tokens) — no searching</a:t>
            </a:r>
          </a:p>
          <a:p>
            <a:pPr>
              <a:spcBef>
                <a:spcPts val="800"/>
              </a:spcBef>
              <a:defRPr sz="1600" b="0">
                <a:solidFill>
                  <a:srgbClr val="E1E4ED"/>
                </a:solidFill>
              </a:defRPr>
            </a:pPr>
            <a:r>
              <a:t>3. User reviews and approves the spec (HITL gate)</a:t>
            </a:r>
          </a:p>
          <a:p>
            <a:pPr>
              <a:spcBef>
                <a:spcPts val="800"/>
              </a:spcBef>
              <a:defRPr sz="1600" b="0">
                <a:solidFill>
                  <a:srgbClr val="34D399"/>
                </a:solidFill>
              </a:defRPr>
            </a:pPr>
            <a:r>
              <a:t>4. Developer writes code in 3-4 calls using gpt-5.5</a:t>
            </a:r>
          </a:p>
          <a:p>
            <a:pPr>
              <a:spcBef>
                <a:spcPts val="800"/>
              </a:spcBef>
              <a:defRPr sz="1600" b="0">
                <a:solidFill>
                  <a:srgbClr val="34D399"/>
                </a:solidFill>
              </a:defRPr>
            </a:pPr>
            <a:r>
              <a:t>5. QA reads all files, runs pytest, approves at 0.95+ score</a:t>
            </a:r>
          </a:p>
          <a:p>
            <a:pPr>
              <a:spcBef>
                <a:spcPts val="800"/>
              </a:spcBef>
              <a:defRPr sz="1600" b="0">
                <a:solidFill>
                  <a:srgbClr val="34D399"/>
                </a:solidFill>
              </a:defRPr>
            </a:pPr>
            <a:r>
              <a:t>6. GitHub node creates branch + single-commit PR automatically</a:t>
            </a:r>
          </a:p>
          <a:p>
            <a:pPr>
              <a:spcBef>
                <a:spcPts val="800"/>
              </a:spcBef>
              <a:defRPr sz="1600" b="0">
                <a:solidFill>
                  <a:srgbClr val="E1E4ED"/>
                </a:solidFill>
              </a:defRPr>
            </a:pPr>
            <a:r>
              <a:t>7. Output saved with README, code, tests</a:t>
            </a:r>
          </a:p>
          <a:p>
            <a:pPr>
              <a:spcBef>
                <a:spcPts val="800"/>
              </a:spcBef>
              <a:defRPr sz="1600" b="0">
                <a:solidFill>
                  <a:srgbClr val="E1E4ED"/>
                </a:solidFill>
              </a:defRPr>
            </a:pPr>
          </a:p>
          <a:p>
            <a:pPr>
              <a:spcBef>
                <a:spcPts val="800"/>
              </a:spcBef>
              <a:defRPr sz="1600" b="0">
                <a:solidFill>
                  <a:srgbClr val="4F8FF7"/>
                </a:solidFill>
              </a:defRPr>
            </a:pPr>
            <a:r>
              <a:t>Total: 7-8 LLM calls, 24-30k tokens, $0.10-0.15, ~60 seconds</a:t>
            </a:r>
          </a:p>
          <a:p>
            <a:pPr>
              <a:spcBef>
                <a:spcPts val="800"/>
              </a:spcBef>
              <a:defRPr sz="1600" b="0">
                <a:solidFill>
                  <a:srgbClr val="E1E4ED"/>
                </a:solidFill>
              </a:defRPr>
            </a:pPr>
          </a:p>
          <a:p>
            <a:pPr>
              <a:spcBef>
                <a:spcPts val="800"/>
              </a:spcBef>
              <a:defRPr sz="1600" b="0">
                <a:solidFill>
                  <a:srgbClr val="FBBF24"/>
                </a:solidFill>
              </a:defRPr>
            </a:pPr>
            <a:r>
              <a:t>→ Live demo / video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0A0"/>
                </a:solidFill>
              </a:defRPr>
            </a:pPr>
            <a:r>
              <a:t>See screenshots in dev-team/screenshots/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F8FF7"/>
                </a:solidFill>
              </a:defRPr>
            </a:pPr>
            <a:r>
              <a:t>Token Optimization Journey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22960" y="1188720"/>
          <a:ext cx="1051560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4114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2E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v0.1 (start)</a:t>
                      </a:r>
                    </a:p>
                  </a:txBody>
                  <a:tcPr>
                    <a:solidFill>
                      <a:srgbClr val="2E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v2.2 (final)</a:t>
                      </a:r>
                    </a:p>
                  </a:txBody>
                  <a:tcPr>
                    <a:solidFill>
                      <a:srgbClr val="2E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Change</a:t>
                      </a:r>
                    </a:p>
                  </a:txBody>
                  <a:tcPr>
                    <a:solidFill>
                      <a:srgbClr val="2E334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1E4ED"/>
                          </a:solidFill>
                        </a:defRPr>
                      </a:pPr>
                      <a:r>
                        <a:t>BA tokens</a:t>
                      </a:r>
                    </a:p>
                  </a:txBody>
                  <a:tcPr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1E4ED"/>
                          </a:solidFill>
                        </a:defRPr>
                      </a:pPr>
                      <a:r>
                        <a:t>5-9k (5-6 calls)</a:t>
                      </a:r>
                    </a:p>
                  </a:txBody>
                  <a:tcPr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1E4ED"/>
                          </a:solidFill>
                        </a:defRPr>
                      </a:pPr>
                      <a:r>
                        <a:t>800 (1 call)</a:t>
                      </a:r>
                    </a:p>
                  </a:txBody>
                  <a:tcPr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1E4ED"/>
                          </a:solidFill>
                        </a:defRPr>
                      </a:pPr>
                      <a:r>
                        <a:t>-90%</a:t>
                      </a:r>
                    </a:p>
                  </a:txBody>
                  <a:tcPr>
                    <a:solidFill>
                      <a:srgbClr val="1A1D2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1E4ED"/>
                          </a:solidFill>
                        </a:defRPr>
                      </a:pPr>
                      <a:r>
                        <a:t>Dev calls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1E4ED"/>
                          </a:solidFill>
                        </a:defRPr>
                      </a:pPr>
                      <a:r>
                        <a:t>10-13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1E4ED"/>
                          </a:solidFill>
                        </a:defRPr>
                      </a:pPr>
                      <a:r>
                        <a:t>3-4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1E4ED"/>
                          </a:solidFill>
                        </a:defRPr>
                      </a:pPr>
                      <a:r>
                        <a:t>-70%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1E4ED"/>
                          </a:solidFill>
                        </a:defRPr>
                      </a:pPr>
                      <a:r>
                        <a:t>QA calls</a:t>
                      </a:r>
                    </a:p>
                  </a:txBody>
                  <a:tcPr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1E4ED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1E4ED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1E4ED"/>
                          </a:solidFill>
                        </a:defRPr>
                      </a:pPr>
                      <a:r>
                        <a:t>-63%</a:t>
                      </a:r>
                    </a:p>
                  </a:txBody>
                  <a:tcPr>
                    <a:solidFill>
                      <a:srgbClr val="1A1D2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1E4ED"/>
                          </a:solidFill>
                        </a:defRPr>
                      </a:pPr>
                      <a:r>
                        <a:t>Revisions per run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1E4ED"/>
                          </a:solidFill>
                        </a:defRPr>
                      </a:pPr>
                      <a:r>
                        <a:t>1-2+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1E4ED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1E4ED"/>
                          </a:solidFill>
                        </a:defRPr>
                      </a:pPr>
                      <a:r>
                        <a:t>-100%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1E4ED"/>
                          </a:solidFill>
                        </a:defRPr>
                      </a:pPr>
                      <a:r>
                        <a:t>Success rate</a:t>
                      </a:r>
                    </a:p>
                  </a:txBody>
                  <a:tcPr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1E4ED"/>
                          </a:solidFill>
                        </a:defRPr>
                      </a:pPr>
                      <a:r>
                        <a:t>~30%</a:t>
                      </a:r>
                    </a:p>
                  </a:txBody>
                  <a:tcPr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1E4ED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1E4ED"/>
                          </a:solidFill>
                        </a:defRPr>
                      </a:pPr>
                      <a:r>
                        <a:t>+70pp</a:t>
                      </a:r>
                    </a:p>
                  </a:txBody>
                  <a:tcPr>
                    <a:solidFill>
                      <a:srgbClr val="1A1D2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1E4ED"/>
                          </a:solidFill>
                        </a:defRPr>
                      </a:pPr>
                      <a:r>
                        <a:t>Cost per run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1E4ED"/>
                          </a:solidFill>
                        </a:defRPr>
                      </a:pPr>
                      <a:r>
                        <a:t>$0.12-crash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1E4ED"/>
                          </a:solidFill>
                        </a:defRPr>
                      </a:pPr>
                      <a:r>
                        <a:t>$0.10-0.25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1E4ED"/>
                          </a:solidFill>
                        </a:defRPr>
                      </a:pPr>
                      <a:r>
                        <a:t>Predictable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5943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0A0"/>
                </a:solidFill>
              </a:defRPr>
            </a:pPr>
            <a:r>
              <a:t>What worked: model upgrade, tool reduction for BA, strict QA prompt, run_command vs inline code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F8FF7"/>
                </a:solidFill>
              </a:defRPr>
            </a:pPr>
            <a:r>
              <a:t>The SummarizationMiddleware Trap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1E4ED"/>
                </a:solidFill>
              </a:defRPr>
            </a:pPr>
          </a:p>
          <a:p>
            <a:pPr>
              <a:spcBef>
                <a:spcPts val="800"/>
              </a:spcBef>
              <a:defRPr sz="1600" b="0">
                <a:solidFill>
                  <a:srgbClr val="E1E4ED"/>
                </a:solidFill>
              </a:defRPr>
            </a:pPr>
            <a:r>
              <a:t>What: LangChain middleware that compresses conversation history</a:t>
            </a:r>
          </a:p>
          <a:p>
            <a:pPr>
              <a:spcBef>
                <a:spcPts val="800"/>
              </a:spcBef>
              <a:defRPr sz="1600" b="0">
                <a:solidFill>
                  <a:srgbClr val="E1E4ED"/>
                </a:solidFill>
              </a:defRPr>
            </a:pPr>
          </a:p>
          <a:p>
            <a:pPr>
              <a:spcBef>
                <a:spcPts val="800"/>
              </a:spcBef>
              <a:defRPr sz="1600" b="0">
                <a:solidFill>
                  <a:srgbClr val="34D399"/>
                </a:solidFill>
              </a:defRPr>
            </a:pPr>
            <a:r>
              <a:t>Expected: 19% token savings (measured by our tracker)</a:t>
            </a:r>
          </a:p>
          <a:p>
            <a:pPr>
              <a:spcBef>
                <a:spcPts val="800"/>
              </a:spcBef>
              <a:defRPr sz="1600" b="0">
                <a:solidFill>
                  <a:srgbClr val="E1E4ED"/>
                </a:solidFill>
              </a:defRPr>
            </a:pPr>
          </a:p>
          <a:p>
            <a:pPr>
              <a:spcBef>
                <a:spcPts val="800"/>
              </a:spcBef>
              <a:defRPr sz="1600" b="0">
                <a:solidFill>
                  <a:srgbClr val="F87171"/>
                </a:solidFill>
              </a:defRPr>
            </a:pPr>
            <a:r>
              <a:t>Reality: Middleware makes its own LLM calls — invisible to our callback</a:t>
            </a:r>
          </a:p>
          <a:p>
            <a:pPr>
              <a:spcBef>
                <a:spcPts val="800"/>
              </a:spcBef>
              <a:defRPr sz="1600" b="0">
                <a:solidFill>
                  <a:srgbClr val="E1E4ED"/>
                </a:solidFill>
              </a:defRPr>
            </a:pPr>
            <a:r>
              <a:t>Our tracker showed 8,600 tokens used</a:t>
            </a:r>
          </a:p>
          <a:p>
            <a:pPr>
              <a:spcBef>
                <a:spcPts val="800"/>
              </a:spcBef>
              <a:defRPr sz="1600" b="0">
                <a:solidFill>
                  <a:srgbClr val="F87171"/>
                </a:solidFill>
              </a:defRPr>
            </a:pPr>
            <a:r>
              <a:t>OpenAI reported 200,000 tokens consumed</a:t>
            </a:r>
          </a:p>
          <a:p>
            <a:pPr>
              <a:spcBef>
                <a:spcPts val="800"/>
              </a:spcBef>
              <a:defRPr sz="1600" b="0">
                <a:solidFill>
                  <a:srgbClr val="E1E4ED"/>
                </a:solidFill>
              </a:defRPr>
            </a:pPr>
          </a:p>
          <a:p>
            <a:pPr>
              <a:spcBef>
                <a:spcPts val="800"/>
              </a:spcBef>
              <a:defRPr sz="1600" b="0">
                <a:solidFill>
                  <a:srgbClr val="F87171"/>
                </a:solidFill>
              </a:defRPr>
            </a:pPr>
            <a:r>
              <a:t>190,000+ tokens burned silently by summarization calls</a:t>
            </a:r>
          </a:p>
          <a:p>
            <a:pPr>
              <a:spcBef>
                <a:spcPts val="800"/>
              </a:spcBef>
              <a:defRPr sz="1600" b="0">
                <a:solidFill>
                  <a:srgbClr val="E1E4ED"/>
                </a:solidFill>
              </a:defRPr>
            </a:pPr>
          </a:p>
          <a:p>
            <a:pPr>
              <a:spcBef>
                <a:spcPts val="800"/>
              </a:spcBef>
              <a:defRPr sz="1600" b="0">
                <a:solidFill>
                  <a:srgbClr val="34D399"/>
                </a:solidFill>
              </a:defRPr>
            </a:pPr>
            <a:r>
              <a:t>Fix: Removed middleware. Strict 3-step QA prompt instead.</a:t>
            </a:r>
          </a:p>
          <a:p>
            <a:pPr>
              <a:spcBef>
                <a:spcPts val="800"/>
              </a:spcBef>
              <a:defRPr sz="1600" b="0">
                <a:solidFill>
                  <a:srgbClr val="E1E4ED"/>
                </a:solidFill>
              </a:defRPr>
            </a:pPr>
          </a:p>
          <a:p>
            <a:pPr>
              <a:spcBef>
                <a:spcPts val="800"/>
              </a:spcBef>
              <a:defRPr sz="1600" b="0">
                <a:solidFill>
                  <a:srgbClr val="FBBF24"/>
                </a:solidFill>
              </a:defRPr>
            </a:pPr>
            <a:r>
              <a:t>Lesson: Never trust a metric you can't fully observe.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0A0"/>
                </a:solidFill>
              </a:defRPr>
            </a:pPr>
            <a:r>
              <a:t>Always log every LLM call: on_llm_start, on_llm_end, on_llm_error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F8FF7"/>
                </a:solidFill>
              </a:defRPr>
            </a:pPr>
            <a:r>
              <a:t>Observability — Langfuse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1E4ED"/>
                </a:solidFill>
              </a:defRPr>
            </a:pPr>
          </a:p>
          <a:p>
            <a:pPr>
              <a:spcBef>
                <a:spcPts val="800"/>
              </a:spcBef>
              <a:defRPr sz="1600" b="0">
                <a:solidFill>
                  <a:srgbClr val="E1E4ED"/>
                </a:solidFill>
              </a:defRPr>
            </a:pPr>
            <a:r>
              <a:t>Tracing: Every LLM call logged with input/output, tokens, latency, cost</a:t>
            </a:r>
          </a:p>
          <a:p>
            <a:pPr>
              <a:spcBef>
                <a:spcPts val="800"/>
              </a:spcBef>
              <a:defRPr sz="1600" b="0">
                <a:solidFill>
                  <a:srgbClr val="E1E4ED"/>
                </a:solidFill>
              </a:defRPr>
            </a:pPr>
            <a:r>
              <a:t>Sessions: Pipeline runs grouped by session ID</a:t>
            </a:r>
          </a:p>
          <a:p>
            <a:pPr>
              <a:spcBef>
                <a:spcPts val="800"/>
              </a:spcBef>
              <a:defRPr sz="1600" b="0">
                <a:solidFill>
                  <a:srgbClr val="E1E4ED"/>
                </a:solidFill>
              </a:defRPr>
            </a:pPr>
            <a:r>
              <a:t>Prompt Management: 3 prompts in Langfuse, v3, production label</a:t>
            </a:r>
          </a:p>
          <a:p>
            <a:pPr>
              <a:spcBef>
                <a:spcPts val="800"/>
              </a:spcBef>
              <a:defRPr sz="1600" b="0">
                <a:solidFill>
                  <a:srgbClr val="E1E4ED"/>
                </a:solidFill>
              </a:defRPr>
            </a:pPr>
            <a:r>
              <a:t>LLM-as-a-Judge: 4 evaluator tests (BA, Dev, QA, E2E) — 10 tests total</a:t>
            </a:r>
          </a:p>
          <a:p>
            <a:pPr>
              <a:spcBef>
                <a:spcPts val="800"/>
              </a:spcBef>
              <a:defRPr sz="1600" b="0">
                <a:solidFill>
                  <a:srgbClr val="E1E4ED"/>
                </a:solidFill>
              </a:defRPr>
            </a:pPr>
          </a:p>
          <a:p>
            <a:pPr>
              <a:spcBef>
                <a:spcPts val="800"/>
              </a:spcBef>
              <a:defRPr sz="1600" b="0">
                <a:solidFill>
                  <a:srgbClr val="4F8FF7"/>
                </a:solidFill>
              </a:defRPr>
            </a:pPr>
            <a:r>
              <a:t>All-time statistics:</a:t>
            </a:r>
          </a:p>
          <a:p>
            <a:pPr>
              <a:spcBef>
                <a:spcPts val="800"/>
              </a:spcBef>
              <a:defRPr sz="1600" b="0">
                <a:solidFill>
                  <a:srgbClr val="FFFFFF"/>
                </a:solidFill>
              </a:defRPr>
            </a:pPr>
            <a:r>
              <a:t>   1,000+ LLM calls across all runs</a:t>
            </a:r>
          </a:p>
          <a:p>
            <a:pPr>
              <a:spcBef>
                <a:spcPts val="800"/>
              </a:spcBef>
              <a:defRPr sz="1600" b="0">
                <a:solidFill>
                  <a:srgbClr val="FFFFFF"/>
                </a:solidFill>
              </a:defRPr>
            </a:pPr>
            <a:r>
              <a:t>   7.8M+ tokens consumed</a:t>
            </a:r>
          </a:p>
          <a:p>
            <a:pPr>
              <a:spcBef>
                <a:spcPts val="800"/>
              </a:spcBef>
              <a:defRPr sz="1600" b="0">
                <a:solidFill>
                  <a:srgbClr val="FFFFFF"/>
                </a:solidFill>
              </a:defRPr>
            </a:pPr>
            <a:r>
              <a:t>   $4.80 total project spend</a:t>
            </a:r>
          </a:p>
          <a:p>
            <a:pPr>
              <a:spcBef>
                <a:spcPts val="800"/>
              </a:spcBef>
              <a:defRPr sz="1600" b="0">
                <a:solidFill>
                  <a:srgbClr val="FFFFFF"/>
                </a:solidFill>
              </a:defRPr>
            </a:pPr>
            <a:r>
              <a:t>   14+ completed pipeline runs</a:t>
            </a:r>
          </a:p>
          <a:p>
            <a:pPr>
              <a:spcBef>
                <a:spcPts val="800"/>
              </a:spcBef>
              <a:defRPr sz="1600" b="0">
                <a:solidFill>
                  <a:srgbClr val="FFFFFF"/>
                </a:solidFill>
              </a:defRPr>
            </a:pPr>
            <a:r>
              <a:t>   50 sessions tracked</a:t>
            </a:r>
          </a:p>
          <a:p>
            <a:pPr>
              <a:spcBef>
                <a:spcPts val="800"/>
              </a:spcBef>
              <a:defRPr sz="1600" b="0">
                <a:solidFill>
                  <a:srgbClr val="E1E4ED"/>
                </a:solidFill>
              </a:defRPr>
            </a:pPr>
          </a:p>
          <a:p>
            <a:pPr>
              <a:spcBef>
                <a:spcPts val="800"/>
              </a:spcBef>
              <a:defRPr sz="1600" b="0">
                <a:solidFill>
                  <a:srgbClr val="34D399"/>
                </a:solidFill>
              </a:defRPr>
            </a:pPr>
            <a:r>
              <a:t>Token tracker: per-call start/end/error + per-step delta logging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0A0"/>
                </a:solidFill>
              </a:defRPr>
            </a:pPr>
            <a:r>
              <a:t>See Langfuse dashboard for live traces and cost charts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F8FF7"/>
                </a:solidFill>
              </a:defRPr>
            </a:pPr>
            <a:r>
              <a:t>Demo Results — 5 Test Cases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22960" y="1188720"/>
          <a:ext cx="105156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600"/>
                <a:gridCol w="1752600"/>
                <a:gridCol w="1752600"/>
                <a:gridCol w="1752600"/>
                <a:gridCol w="1752600"/>
                <a:gridCol w="1752600"/>
              </a:tblGrid>
              <a:tr h="4114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2E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Demo</a:t>
                      </a:r>
                    </a:p>
                  </a:txBody>
                  <a:tcPr>
                    <a:solidFill>
                      <a:srgbClr val="2E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Complexity</a:t>
                      </a:r>
                    </a:p>
                  </a:txBody>
                  <a:tcPr>
                    <a:solidFill>
                      <a:srgbClr val="2E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Tokens</a:t>
                      </a:r>
                    </a:p>
                  </a:txBody>
                  <a:tcPr>
                    <a:solidFill>
                      <a:srgbClr val="2E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Cost</a:t>
                      </a:r>
                    </a:p>
                  </a:txBody>
                  <a:tcPr>
                    <a:solidFill>
                      <a:srgbClr val="2E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QA Score</a:t>
                      </a:r>
                    </a:p>
                  </a:txBody>
                  <a:tcPr>
                    <a:solidFill>
                      <a:srgbClr val="2E334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1E4ED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1E4ED"/>
                          </a:solidFill>
                        </a:defRPr>
                      </a:pPr>
                      <a:r>
                        <a:t>ASCII Art Generator</a:t>
                      </a:r>
                    </a:p>
                  </a:txBody>
                  <a:tcPr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1E4ED"/>
                          </a:solidFill>
                        </a:defRPr>
                      </a:pPr>
                      <a:r>
                        <a:t>simple</a:t>
                      </a:r>
                    </a:p>
                  </a:txBody>
                  <a:tcPr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1E4ED"/>
                          </a:solidFill>
                        </a:defRPr>
                      </a:pPr>
                      <a:r>
                        <a:t>~25k</a:t>
                      </a:r>
                    </a:p>
                  </a:txBody>
                  <a:tcPr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1E4ED"/>
                          </a:solidFill>
                        </a:defRPr>
                      </a:pPr>
                      <a:r>
                        <a:t>~$0.10</a:t>
                      </a:r>
                    </a:p>
                  </a:txBody>
                  <a:tcPr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1E4ED"/>
                          </a:solidFill>
                        </a:defRPr>
                      </a:pPr>
                      <a:r>
                        <a:t>0.95+</a:t>
                      </a:r>
                    </a:p>
                  </a:txBody>
                  <a:tcPr>
                    <a:solidFill>
                      <a:srgbClr val="1A1D2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1E4ED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1E4ED"/>
                          </a:solidFill>
                        </a:defRPr>
                      </a:pPr>
                      <a:r>
                        <a:t>Password Generator CLI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1E4ED"/>
                          </a:solidFill>
                        </a:defRPr>
                      </a:pPr>
                      <a:r>
                        <a:t>simple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1E4ED"/>
                          </a:solidFill>
                        </a:defRPr>
                      </a:pPr>
                      <a:r>
                        <a:t>31k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1E4ED"/>
                          </a:solidFill>
                        </a:defRPr>
                      </a:pPr>
                      <a:r>
                        <a:t>$0.12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1E4ED"/>
                          </a:solidFill>
                        </a:defRPr>
                      </a:pPr>
                      <a:r>
                        <a:t>0.95+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1E4ED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1E4ED"/>
                          </a:solidFill>
                        </a:defRPr>
                      </a:pPr>
                      <a:r>
                        <a:t>Markdown→HTML Library</a:t>
                      </a:r>
                    </a:p>
                  </a:txBody>
                  <a:tcPr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1E4ED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1E4ED"/>
                          </a:solidFill>
                        </a:defRPr>
                      </a:pPr>
                      <a:r>
                        <a:t>59k</a:t>
                      </a:r>
                    </a:p>
                  </a:txBody>
                  <a:tcPr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1E4ED"/>
                          </a:solidFill>
                        </a:defRPr>
                      </a:pPr>
                      <a:r>
                        <a:t>$0.22</a:t>
                      </a:r>
                    </a:p>
                  </a:txBody>
                  <a:tcPr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1E4ED"/>
                          </a:solidFill>
                        </a:defRPr>
                      </a:pPr>
                      <a:r>
                        <a:t>0.97</a:t>
                      </a:r>
                    </a:p>
                  </a:txBody>
                  <a:tcPr>
                    <a:solidFill>
                      <a:srgbClr val="1A1D2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1E4ED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1E4ED"/>
                          </a:solidFill>
                        </a:defRPr>
                      </a:pPr>
                      <a:r>
                        <a:t>CSV Data Analyzer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1E4ED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1E4ED"/>
                          </a:solidFill>
                        </a:defRPr>
                      </a:pPr>
                      <a:r>
                        <a:t>42k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1E4ED"/>
                          </a:solidFill>
                        </a:defRPr>
                      </a:pPr>
                      <a:r>
                        <a:t>$0.16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1E4ED"/>
                          </a:solidFill>
                        </a:defRPr>
                      </a:pPr>
                      <a:r>
                        <a:t>0.95+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1E4ED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1E4ED"/>
                          </a:solidFill>
                        </a:defRPr>
                      </a:pPr>
                      <a:r>
                        <a:t>Flask REST API + SQLite</a:t>
                      </a:r>
                    </a:p>
                  </a:txBody>
                  <a:tcPr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1E4ED"/>
                          </a:solidFill>
                        </a:defRPr>
                      </a:pPr>
                      <a:r>
                        <a:t>complex</a:t>
                      </a:r>
                    </a:p>
                  </a:txBody>
                  <a:tcPr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1E4ED"/>
                          </a:solidFill>
                        </a:defRPr>
                      </a:pPr>
                      <a:r>
                        <a:t>69k</a:t>
                      </a:r>
                    </a:p>
                  </a:txBody>
                  <a:tcPr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1E4ED"/>
                          </a:solidFill>
                        </a:defRPr>
                      </a:pPr>
                      <a:r>
                        <a:t>$0.25</a:t>
                      </a:r>
                    </a:p>
                  </a:txBody>
                  <a:tcPr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1E4ED"/>
                          </a:solidFill>
                        </a:defRPr>
                      </a:pPr>
                      <a:r>
                        <a:t>0.95+</a:t>
                      </a:r>
                    </a:p>
                  </a:txBody>
                  <a:tcPr>
                    <a:solidFill>
                      <a:srgbClr val="1A1D27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5943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0A0"/>
                </a:solidFill>
              </a:defRPr>
            </a:pPr>
            <a:r>
              <a:t>5/5 passed. Zero revisions. Total: ~226k tokens, ~$0.85. All produced working code with tests and GitHub PRs.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F8FF7"/>
                </a:solidFill>
              </a:defRPr>
            </a:pPr>
            <a:r>
              <a:t>Tech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1E4ED"/>
                </a:solidFill>
              </a:defRPr>
            </a:pPr>
          </a:p>
          <a:p>
            <a:pPr>
              <a:spcBef>
                <a:spcPts val="800"/>
              </a:spcBef>
              <a:defRPr sz="1600" b="0">
                <a:solidFill>
                  <a:srgbClr val="E1E4ED"/>
                </a:solidFill>
              </a:defRPr>
            </a:pPr>
            <a:r>
              <a:t>LangChain — create_agent, ToolStrategy, init_chat_model</a:t>
            </a:r>
          </a:p>
          <a:p>
            <a:pPr>
              <a:spcBef>
                <a:spcPts val="800"/>
              </a:spcBef>
              <a:defRPr sz="1600" b="0">
                <a:solidFill>
                  <a:srgbClr val="E1E4ED"/>
                </a:solidFill>
              </a:defRPr>
            </a:pPr>
            <a:r>
              <a:t>LangGraph — StateGraph, interrupt(), conditional edges</a:t>
            </a:r>
          </a:p>
          <a:p>
            <a:pPr>
              <a:spcBef>
                <a:spcPts val="800"/>
              </a:spcBef>
              <a:defRPr sz="1600" b="0">
                <a:solidFill>
                  <a:srgbClr val="E1E4ED"/>
                </a:solidFill>
              </a:defRPr>
            </a:pPr>
            <a:r>
              <a:t>Langfuse v4 — tracing, propagate_attributes(), prompt management</a:t>
            </a:r>
          </a:p>
          <a:p>
            <a:pPr>
              <a:spcBef>
                <a:spcPts val="800"/>
              </a:spcBef>
              <a:defRPr sz="1600" b="0">
                <a:solidFill>
                  <a:srgbClr val="E1E4ED"/>
                </a:solidFill>
              </a:defRPr>
            </a:pPr>
            <a:r>
              <a:t>MCP — Model Context Protocol (Context7 for live library docs)</a:t>
            </a:r>
          </a:p>
          <a:p>
            <a:pPr>
              <a:spcBef>
                <a:spcPts val="800"/>
              </a:spcBef>
              <a:defRPr sz="1600" b="0">
                <a:solidFill>
                  <a:srgbClr val="E1E4ED"/>
                </a:solidFill>
              </a:defRPr>
            </a:pPr>
            <a:r>
              <a:t>PyGithub — Git Trees API for single-commit PRs</a:t>
            </a:r>
          </a:p>
          <a:p>
            <a:pPr>
              <a:spcBef>
                <a:spcPts val="800"/>
              </a:spcBef>
              <a:defRPr sz="1600" b="0">
                <a:solidFill>
                  <a:srgbClr val="E1E4ED"/>
                </a:solidFill>
              </a:defRPr>
            </a:pPr>
            <a:r>
              <a:t>FastAPI — Web UI with SSE streaming, colored logs</a:t>
            </a:r>
          </a:p>
          <a:p>
            <a:pPr>
              <a:spcBef>
                <a:spcPts val="800"/>
              </a:spcBef>
              <a:defRPr sz="1600" b="0">
                <a:solidFill>
                  <a:srgbClr val="E1E4ED"/>
                </a:solidFill>
              </a:defRPr>
            </a:pPr>
            <a:r>
              <a:t>FAISS + BM25 — Hybrid RAG with cross-encoder reranking (23 docs)</a:t>
            </a:r>
          </a:p>
          <a:p>
            <a:pPr>
              <a:spcBef>
                <a:spcPts val="800"/>
              </a:spcBef>
              <a:defRPr sz="1600" b="0">
                <a:solidFill>
                  <a:srgbClr val="E1E4ED"/>
                </a:solidFill>
              </a:defRPr>
            </a:pPr>
            <a:r>
              <a:t>Playwright — Automated UI testing &amp; 30 screenshots</a:t>
            </a:r>
          </a:p>
          <a:p>
            <a:pPr>
              <a:spcBef>
                <a:spcPts val="800"/>
              </a:spcBef>
              <a:defRPr sz="1600" b="0">
                <a:solidFill>
                  <a:srgbClr val="E1E4ED"/>
                </a:solidFill>
              </a:defRPr>
            </a:pPr>
            <a:r>
              <a:t>Docker — Containerized deployment with docker compose</a:t>
            </a:r>
          </a:p>
          <a:p>
            <a:pPr>
              <a:spcBef>
                <a:spcPts val="800"/>
              </a:spcBef>
              <a:defRPr sz="1600" b="0">
                <a:solidFill>
                  <a:srgbClr val="E1E4ED"/>
                </a:solidFill>
              </a:defRPr>
            </a:pPr>
            <a:r>
              <a:t>Ruff + pre-commit — Code quality (lint, format, security checks)</a:t>
            </a:r>
          </a:p>
          <a:p>
            <a:pPr>
              <a:spcBef>
                <a:spcPts val="800"/>
              </a:spcBef>
              <a:defRPr sz="1600" b="0">
                <a:solidFill>
                  <a:srgbClr val="E1E4ED"/>
                </a:solidFill>
              </a:defRPr>
            </a:pPr>
          </a:p>
          <a:p>
            <a:pPr>
              <a:spcBef>
                <a:spcPts val="800"/>
              </a:spcBef>
              <a:defRPr sz="1600" b="0">
                <a:solidFill>
                  <a:srgbClr val="4F8FF7"/>
                </a:solidFill>
              </a:defRPr>
            </a:pPr>
            <a:r>
              <a:t>All current as of May 2026, verified against official documentation.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F8FF7"/>
                </a:solidFill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1E4ED"/>
                </a:solidFill>
              </a:defRPr>
            </a:pPr>
          </a:p>
          <a:p>
            <a:pPr>
              <a:spcBef>
                <a:spcPts val="800"/>
              </a:spcBef>
              <a:defRPr sz="1600" b="0">
                <a:solidFill>
                  <a:srgbClr val="FFFFFF"/>
                </a:solidFill>
              </a:defRPr>
            </a:pPr>
            <a:r>
              <a:t>1. Per-pipeline cost &gt; per-token cost</a:t>
            </a:r>
          </a:p>
          <a:p>
            <a:pPr>
              <a:spcBef>
                <a:spcPts val="800"/>
              </a:spcBef>
              <a:defRPr sz="1600" b="0">
                <a:solidFill>
                  <a:srgbClr val="8B90A0"/>
                </a:solidFill>
              </a:defRPr>
            </a:pPr>
            <a:r>
              <a:t>   A strong model making 3 calls beats a weak model making 13 calls</a:t>
            </a:r>
          </a:p>
          <a:p>
            <a:pPr>
              <a:spcBef>
                <a:spcPts val="800"/>
              </a:spcBef>
              <a:defRPr sz="1600" b="0">
                <a:solidFill>
                  <a:srgbClr val="E1E4ED"/>
                </a:solidFill>
              </a:defRPr>
            </a:pPr>
          </a:p>
          <a:p>
            <a:pPr>
              <a:spcBef>
                <a:spcPts val="800"/>
              </a:spcBef>
              <a:defRPr sz="1600" b="0">
                <a:solidFill>
                  <a:srgbClr val="FFFFFF"/>
                </a:solidFill>
              </a:defRPr>
            </a:pPr>
            <a:r>
              <a:t>2. Remove tools you don't need</a:t>
            </a:r>
          </a:p>
          <a:p>
            <a:pPr>
              <a:spcBef>
                <a:spcPts val="800"/>
              </a:spcBef>
              <a:defRPr sz="1600" b="0">
                <a:solidFill>
                  <a:srgbClr val="8B90A0"/>
                </a:solidFill>
              </a:defRPr>
            </a:pPr>
            <a:r>
              <a:t>   The model WILL use every available tool. Availability &gt; instructions</a:t>
            </a:r>
          </a:p>
          <a:p>
            <a:pPr>
              <a:spcBef>
                <a:spcPts val="800"/>
              </a:spcBef>
              <a:defRPr sz="1600" b="0">
                <a:solidFill>
                  <a:srgbClr val="E1E4ED"/>
                </a:solidFill>
              </a:defRPr>
            </a:pPr>
          </a:p>
          <a:p>
            <a:pPr>
              <a:spcBef>
                <a:spcPts val="800"/>
              </a:spcBef>
              <a:defRPr sz="1600" b="0">
                <a:solidFill>
                  <a:srgbClr val="FFFFFF"/>
                </a:solidFill>
              </a:defRPr>
            </a:pPr>
            <a:r>
              <a:t>3. Full observability from day one</a:t>
            </a:r>
          </a:p>
          <a:p>
            <a:pPr>
              <a:spcBef>
                <a:spcPts val="800"/>
              </a:spcBef>
              <a:defRPr sz="1600" b="0">
                <a:solidFill>
                  <a:srgbClr val="8B90A0"/>
                </a:solidFill>
              </a:defRPr>
            </a:pPr>
            <a:r>
              <a:t>   Per-call logging caught 190k invisible tokens that "saved 19%"</a:t>
            </a:r>
          </a:p>
          <a:p>
            <a:pPr>
              <a:spcBef>
                <a:spcPts val="800"/>
              </a:spcBef>
              <a:defRPr sz="1600" b="0">
                <a:solidFill>
                  <a:srgbClr val="E1E4ED"/>
                </a:solidFill>
              </a:defRPr>
            </a:pPr>
          </a:p>
          <a:p>
            <a:pPr>
              <a:spcBef>
                <a:spcPts val="800"/>
              </a:spcBef>
              <a:defRPr sz="1600" b="0">
                <a:solidFill>
                  <a:srgbClr val="FFFFFF"/>
                </a:solidFill>
              </a:defRPr>
            </a:pPr>
            <a:r>
              <a:t>4. Rate limits are architecture</a:t>
            </a:r>
          </a:p>
          <a:p>
            <a:pPr>
              <a:spcBef>
                <a:spcPts val="800"/>
              </a:spcBef>
              <a:defRPr sz="1600" b="0">
                <a:solidFill>
                  <a:srgbClr val="8B90A0"/>
                </a:solidFill>
              </a:defRPr>
            </a:pPr>
            <a:r>
              <a:t>   Check TPM limits before choosing models. 30k TPM = unusable</a:t>
            </a:r>
          </a:p>
          <a:p>
            <a:pPr>
              <a:spcBef>
                <a:spcPts val="800"/>
              </a:spcBef>
              <a:defRPr sz="1600" b="0">
                <a:solidFill>
                  <a:srgbClr val="E1E4ED"/>
                </a:solidFill>
              </a:defRPr>
            </a:pPr>
          </a:p>
          <a:p>
            <a:pPr>
              <a:spcBef>
                <a:spcPts val="800"/>
              </a:spcBef>
              <a:defRPr sz="1600" b="0">
                <a:solidFill>
                  <a:srgbClr val="FFFFFF"/>
                </a:solidFill>
              </a:defRPr>
            </a:pPr>
            <a:r>
              <a:t>5. Start with the best model, optimize down</a:t>
            </a:r>
          </a:p>
          <a:p>
            <a:pPr>
              <a:spcBef>
                <a:spcPts val="800"/>
              </a:spcBef>
              <a:defRPr sz="1600" b="0">
                <a:solidFill>
                  <a:srgbClr val="8B90A0"/>
                </a:solidFill>
              </a:defRPr>
            </a:pPr>
            <a:r>
              <a:t>   We wasted days debugging issues that didn't exist with gpt-5.5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